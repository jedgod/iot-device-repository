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ry Godwin" userId="83472b140ea390e8" providerId="LiveId" clId="{ED87FD99-202B-4469-A191-727189A2DD0E}"/>
    <pc:docChg chg="addSld modSld">
      <pc:chgData name="Jerry Godwin" userId="83472b140ea390e8" providerId="LiveId" clId="{ED87FD99-202B-4469-A191-727189A2DD0E}" dt="2026-09-28T17:21:36.657" v="15" actId="680"/>
      <pc:docMkLst>
        <pc:docMk/>
      </pc:docMkLst>
      <pc:sldChg chg="modSp mod">
        <pc:chgData name="Jerry Godwin" userId="83472b140ea390e8" providerId="LiveId" clId="{ED87FD99-202B-4469-A191-727189A2DD0E}" dt="2026-09-16T19:18:43.179" v="3" actId="20577"/>
        <pc:sldMkLst>
          <pc:docMk/>
          <pc:sldMk cId="0" sldId="260"/>
        </pc:sldMkLst>
        <pc:spChg chg="mod">
          <ac:chgData name="Jerry Godwin" userId="83472b140ea390e8" providerId="LiveId" clId="{ED87FD99-202B-4469-A191-727189A2DD0E}" dt="2026-09-16T19:18:43.179" v="3" actId="20577"/>
          <ac:spMkLst>
            <pc:docMk/>
            <pc:sldMk cId="0" sldId="260"/>
            <ac:spMk id="7" creationId="{00000000-0000-0000-0000-000000000000}"/>
          </ac:spMkLst>
        </pc:spChg>
      </pc:sldChg>
      <pc:sldChg chg="modSp mod">
        <pc:chgData name="Jerry Godwin" userId="83472b140ea390e8" providerId="LiveId" clId="{ED87FD99-202B-4469-A191-727189A2DD0E}" dt="2026-09-16T19:18:51.028" v="7" actId="20577"/>
        <pc:sldMkLst>
          <pc:docMk/>
          <pc:sldMk cId="0" sldId="261"/>
        </pc:sldMkLst>
        <pc:spChg chg="mod">
          <ac:chgData name="Jerry Godwin" userId="83472b140ea390e8" providerId="LiveId" clId="{ED87FD99-202B-4469-A191-727189A2DD0E}" dt="2026-09-16T19:18:47.759" v="5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Jerry Godwin" userId="83472b140ea390e8" providerId="LiveId" clId="{ED87FD99-202B-4469-A191-727189A2DD0E}" dt="2026-09-16T19:18:51.028" v="7" actId="20577"/>
          <ac:spMkLst>
            <pc:docMk/>
            <pc:sldMk cId="0" sldId="261"/>
            <ac:spMk id="11" creationId="{00000000-0000-0000-0000-000000000000}"/>
          </ac:spMkLst>
        </pc:spChg>
      </pc:sldChg>
      <pc:sldChg chg="modSp mod">
        <pc:chgData name="Jerry Godwin" userId="83472b140ea390e8" providerId="LiveId" clId="{ED87FD99-202B-4469-A191-727189A2DD0E}" dt="2026-09-28T17:21:28.065" v="14" actId="1076"/>
        <pc:sldMkLst>
          <pc:docMk/>
          <pc:sldMk cId="0" sldId="265"/>
        </pc:sldMkLst>
        <pc:spChg chg="mod">
          <ac:chgData name="Jerry Godwin" userId="83472b140ea390e8" providerId="LiveId" clId="{ED87FD99-202B-4469-A191-727189A2DD0E}" dt="2026-09-28T17:21:28.065" v="14" actId="1076"/>
          <ac:spMkLst>
            <pc:docMk/>
            <pc:sldMk cId="0" sldId="265"/>
            <ac:spMk id="9" creationId="{00000000-0000-0000-0000-000000000000}"/>
          </ac:spMkLst>
        </pc:spChg>
        <pc:spChg chg="mod">
          <ac:chgData name="Jerry Godwin" userId="83472b140ea390e8" providerId="LiveId" clId="{ED87FD99-202B-4469-A191-727189A2DD0E}" dt="2026-09-28T17:21:26.672" v="13" actId="20577"/>
          <ac:spMkLst>
            <pc:docMk/>
            <pc:sldMk cId="0" sldId="265"/>
            <ac:spMk id="10" creationId="{00000000-0000-0000-0000-000000000000}"/>
          </ac:spMkLst>
        </pc:spChg>
        <pc:spChg chg="mod">
          <ac:chgData name="Jerry Godwin" userId="83472b140ea390e8" providerId="LiveId" clId="{ED87FD99-202B-4469-A191-727189A2DD0E}" dt="2026-09-16T19:19:05.802" v="9" actId="20577"/>
          <ac:spMkLst>
            <pc:docMk/>
            <pc:sldMk cId="0" sldId="265"/>
            <ac:spMk id="12" creationId="{00000000-0000-0000-0000-000000000000}"/>
          </ac:spMkLst>
        </pc:spChg>
      </pc:sldChg>
      <pc:sldChg chg="modSp mod">
        <pc:chgData name="Jerry Godwin" userId="83472b140ea390e8" providerId="LiveId" clId="{ED87FD99-202B-4469-A191-727189A2DD0E}" dt="2026-09-16T19:19:21.529" v="11" actId="20577"/>
        <pc:sldMkLst>
          <pc:docMk/>
          <pc:sldMk cId="0" sldId="267"/>
        </pc:sldMkLst>
        <pc:spChg chg="mod">
          <ac:chgData name="Jerry Godwin" userId="83472b140ea390e8" providerId="LiveId" clId="{ED87FD99-202B-4469-A191-727189A2DD0E}" dt="2026-09-16T19:19:21.529" v="11" actId="20577"/>
          <ac:spMkLst>
            <pc:docMk/>
            <pc:sldMk cId="0" sldId="267"/>
            <ac:spMk id="8" creationId="{00000000-0000-0000-0000-000000000000}"/>
          </ac:spMkLst>
        </pc:spChg>
      </pc:sldChg>
      <pc:sldChg chg="new">
        <pc:chgData name="Jerry Godwin" userId="83472b140ea390e8" providerId="LiveId" clId="{ED87FD99-202B-4469-A191-727189A2DD0E}" dt="2026-09-28T17:21:36.657" v="15" actId="680"/>
        <pc:sldMkLst>
          <pc:docMk/>
          <pc:sldMk cId="935790242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4600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2011680"/>
            <a:ext cx="5669280" cy="5669280"/>
          </a:xfrm>
          <a:prstGeom prst="ellipse">
            <a:avLst/>
          </a:prstGeom>
          <a:solidFill>
            <a:srgbClr val="C85A2E">
              <a:alpha val="22000"/>
            </a:srgbClr>
          </a:solidFill>
          <a:ln w="12700">
            <a:solidFill>
              <a:srgbClr val="C85A2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3291840"/>
            <a:ext cx="3108960" cy="3108960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STATE UNIVERSITY  ·  CTEC 651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IoT Digital Repository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sensor simulation to data visualization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greenhouse climate and soil monitoring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 ·  MQTT / HiveMQ  ·  SQLite  ·  Matplotlib  ·  Streamlit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Instructor: Dr. Felix Njeh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Student: Jerry Diabor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presentation: 28 September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State University  ·  CTEC 651  ·  Dr. Felix Njeh  ·  Jerry Diabor  ·  28 September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presentation covers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57276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and use case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2377440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57860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3383280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5844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0200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 and simulation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4389120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459028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4617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transmission and SQLite storage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5080" y="1371600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0" y="157276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5236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Visualizations and key insights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55080" y="2377440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0" y="257860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5236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/ recorded demo path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55080" y="3383280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3680" y="35844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52360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and learning outcomes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AND USE CASE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State University  ·  CTEC 651  ·  Dr. Felix Njeh  ·  Jerry Diabor  ·  28 September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greenhouse observations without a paid cloud platform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109728" cy="3840480"/>
          </a:xfrm>
          <a:prstGeom prst="rect">
            <a:avLst/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spikes, dry soil, and overnight humidity drift can damage crops when nobody is watching. Commercial IoT platforms are paid and often cloud-locked.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97680" y="1417320"/>
            <a:ext cx="109728" cy="3840480"/>
          </a:xfrm>
          <a:prstGeom prst="rect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219456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virtual greenhouse node (GH-SENSOR-01) publishes temperature, humidity, soil moisture, and light as JSON over MQTT into a local SQLite repository.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38160" y="141732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38160" y="1417320"/>
            <a:ext cx="109728" cy="3840480"/>
          </a:xfrm>
          <a:prstGeom prst="rect">
            <a:avLst/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1248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0" y="219456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prototype for CTEC 651. It demonstrates monitoring and analysis; it does not control a real greenhouse or claim physical measurements.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State University  ·  CTEC 651  ·  Dr. Felix Njeh  ·  Jerry Diabor  ·  28 September 2026</a:t>
            </a:r>
            <a:endParaRPr lang="en-US" sz="1000" dirty="0"/>
          </a:p>
        </p:txBody>
      </p:sp>
      <p:pic>
        <p:nvPicPr>
          <p:cNvPr id="7" name="Image 0" descr="/home/workdir/artifacts/IoT-Digital-Repository/diagrams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85800"/>
            <a:ext cx="11521440" cy="3794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617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pipeline: Sensor Simulator → MQTT Broker → Subscriber → Database → Visualization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983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Broker: broker.hivemq.com:1883   ·   Topic: ctec651/greenhousewatch/ipmcbit   ·   Store: data/iot_data.db   ·   All free tools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State University  ·  CTEC 651  ·  Dr. Felix Njeh  ·  Jerry Diabor  ·  28 September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table </a:t>
            </a:r>
            <a:r>
              <a:rPr lang="en-US" sz="1800" b="1" dirty="0" err="1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sensor_data</a:t>
            </a:r>
            <a:r>
              <a:rPr lang="en-US" sz="18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fields stored for every reading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41148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ECD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5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ECD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5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ECD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530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timestamp / iso_time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/ TEXT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Unix time + human-readable UTC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device_id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Virtual node id (GH-SENSOR-01)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temperature_c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 temperature (°C)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humidity_pct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Relative humidity (%)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soil_moisture_pct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Root-zone moisture (%)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light_lux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Ambient light (lux)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alert_flag / alert_reason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INTEGER / TEXT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if any demonstration threshold is breached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thresholds: temperature 16–32 °C · humidity 40–80% · soil moisture ≥ 30%. Light is recorded but does not raise alerts.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AND MQTT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State University  ·  CTEC 651  ·  Dr. Felix Njeh  ·  Jerry Diabor  ·  28 September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777240"/>
            <a:ext cx="5532120" cy="5349240"/>
          </a:xfrm>
          <a:prstGeom prst="roundRect">
            <a:avLst>
              <a:gd name="adj" fmla="val 1368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172200" y="777240"/>
            <a:ext cx="5577840" cy="5349240"/>
          </a:xfrm>
          <a:prstGeom prst="roundRect">
            <a:avLst>
              <a:gd name="adj" fmla="val 1368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960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2 - Simulation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1463040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src/simulator.py produces JSON with four measurements, UTC timestamps, device id, and alert metadata.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mode: ~2-second interval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Historical series: 15-minute steps, soil dry-down, irrigation recovery, injected anomalies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Sample: samples/phase2_sample_output.txt (20 records)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960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3 - MQTT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1463040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 and subscriber use HiveMQ public broker.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A: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python src/subscriber.py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B: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python src/publisher.py --count 20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 decodes JSON and INSERTs into SQLite via db.py. QoS 0; topic is configurable in config.py.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State University  ·  CTEC 651  ·  Dr. Felix Njeh  ·  Jerry Diabor  ·  28 September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repository  ·  data/iot_data.db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records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(assignment min: 50)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128016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20440" y="23774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rows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soil · humidity · cold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28016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46520" y="23774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channels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alert metadata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35440" y="128016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3544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372600" y="23774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services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is built-in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seed uses 15-minute spacing. Live MQTT batches use ~2-second spacing and append to the same table. CSV export matches ordered database rows. Schema: docs/table_schema.md.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Integrity: SQLite PRAGMA integrity_check = ok on the submitted database snapshot.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State University  ·  CTEC 651  ·  Dr. Felix Njeh  ·  Jerry Diabor  ·  28 September 2026</a:t>
            </a:r>
            <a:endParaRPr lang="en-US" sz="1000" dirty="0"/>
          </a:p>
        </p:txBody>
      </p:sp>
      <p:pic>
        <p:nvPicPr>
          <p:cNvPr id="7" name="Image 0" descr="/home/workdir/artifacts/IoT-Digital-Repository/outputs/01_temperature_over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8368"/>
            <a:ext cx="5760720" cy="2697480"/>
          </a:xfrm>
          <a:prstGeom prst="rect">
            <a:avLst/>
          </a:prstGeom>
        </p:spPr>
      </p:pic>
      <p:pic>
        <p:nvPicPr>
          <p:cNvPr id="8" name="Image 1" descr="/home/workdir/artifacts/IoT-Digital-Repository/outputs/02_humidity_over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658368"/>
            <a:ext cx="5760720" cy="2697480"/>
          </a:xfrm>
          <a:prstGeom prst="rect">
            <a:avLst/>
          </a:prstGeom>
        </p:spPr>
      </p:pic>
      <p:pic>
        <p:nvPicPr>
          <p:cNvPr id="9" name="Image 2" descr="/home/workdir/artifacts/IoT-Digital-Repository/outputs/03_soil_and_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429000"/>
            <a:ext cx="5760720" cy="2697480"/>
          </a:xfrm>
          <a:prstGeom prst="rect">
            <a:avLst/>
          </a:prstGeom>
        </p:spPr>
      </p:pic>
      <p:pic>
        <p:nvPicPr>
          <p:cNvPr id="10" name="Image 3" descr="/home/workdir/artifacts/IoT-Digital-Repository/outputs/04_alert_summa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429000"/>
            <a:ext cx="576072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State University  ·  CTEC 651  ·  Dr. Felix Njeh  ·  Jerry Diabor  ·  28 September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stored repository shows (simulated data)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18872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stayed under the heat limit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148132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13.37–28.96 °C. No stored value exceeds 32 °C. One injected low-temperature event (13.37 °C) is flagged — a demonstration cold anomaly, not a measured dawn reading.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3774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Drought and damp nights are the visible risks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670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mid-series dry_soil alerts near 20% moisture, then modeled irrigation recovery. Three high_humidity readings just above 80%. Humidity moves opposite temperature as programmed.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56616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are sparse and explainable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85876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of 80 seed records flagged (~9%): 3 dry_soil, 3 high_humidity, 1 low_temperature. Thresholds fire on the edges of the data, not at random in the middle.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75488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purpose, not physical proof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504748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make threshold events visible for education. Results illustrate the pipeline; they do not validate a real greenhouse clock or crop safety recommendations.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PATH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State University  ·  CTEC 651  ·  Dr. Felix Njeh  ·  Jerry Diabor  ·  28 September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show the end-to-end system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5532120" cy="4754880"/>
          </a:xfrm>
          <a:prstGeom prst="roundRect">
            <a:avLst>
              <a:gd name="adj" fmla="val 1538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126480" y="1219558"/>
            <a:ext cx="5577840" cy="4754880"/>
          </a:xfrm>
          <a:prstGeom prst="roundRect">
            <a:avLst>
              <a:gd name="adj" fmla="val 1538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- live MQTT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Activate venv; pip install -r requirements.txt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Terminal A: python src/subscriber.py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Terminal B: python src/publisher.py --count 15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python src/db.py  (row count grows)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python src/visualize.py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streamlit run src/dashboard.py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actual terminal output as Phase 3 evidence.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- offline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19202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broker.hivemq.com is blocked: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src/offline_pipeline.py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Seeds (if needed), exports CSV, rebuilds four charts.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submit publisher.py and subscriber.py. Pair offline charts with a retained MQTT log or recording when possible.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790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OUTCOMES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State University  ·  CTEC 651  ·  Dr. Felix Njeh  ·  Jerry Diabor  ·  28 September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 to course objectives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11247120" cy="685800"/>
          </a:xfrm>
          <a:prstGeom prst="roundRect">
            <a:avLst>
              <a:gd name="adj" fmla="val 5333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3990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architecture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13990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Five-stage pipeline implemented end-to-end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1124712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1762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sensor 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21762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channels + JSON + 20-record sample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11247120" cy="685800"/>
          </a:xfrm>
          <a:prstGeom prst="roundRect">
            <a:avLst>
              <a:gd name="adj" fmla="val 5333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953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communication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29535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 / subscriber on HiveMQ public broker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1124712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730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time-series data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0" y="37307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with time index; ≥50 rows required, 80+ present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11247120" cy="685800"/>
          </a:xfrm>
          <a:prstGeom prst="roundRect">
            <a:avLst>
              <a:gd name="adj" fmla="val 5333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507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for insight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97680" y="450799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PNG charts + written interpretation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5120640"/>
            <a:ext cx="1124712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52852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the system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97680" y="52852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+ live or recorded demo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3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A8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2A4A33"/>
          </a:solidFill>
          <a:ln w="12700">
            <a:solidFill>
              <a:srgbClr val="2A4A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State University  ·  CTEC 651  ·  Dr. Felix Njeh  ·  Jerry Diabor  ·  28 September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in one line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greenhouse sensor data can be transmitted with MQTT, stored locally in SQLite, and visualized with free tools - a complete local IoT digital repository.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F3D2A"/>
          </a:solidFill>
          <a:ln w="12700">
            <a:solidFill>
              <a:srgbClr val="2A4A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+ architecture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256032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F3D2A"/>
          </a:solidFill>
          <a:ln w="12700">
            <a:solidFill>
              <a:srgbClr val="2A4A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83280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 · pub/sub · DB · charts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256032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F3D2A"/>
          </a:solidFill>
          <a:ln w="12700">
            <a:solidFill>
              <a:srgbClr val="2A4A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0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 rows · 7 alerts · CSV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235440" y="256032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F3D2A"/>
          </a:solidFill>
          <a:ln w="12700">
            <a:solidFill>
              <a:srgbClr val="2A4A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235440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7260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MQTT or offline path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8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 ·  Jerry Diabor  ·  CTEC 651  ·  Dr. Felix Njeh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1269</Words>
  <Application>Microsoft Office PowerPoint</Application>
  <PresentationFormat>Widescreen</PresentationFormat>
  <Paragraphs>190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GreenHouseWatch — CTEC 651 IoT Digital Repository Project</dc:title>
  <dc:subject>CTEC 651 Digital Repository Project 1 — Final Presentation</dc:subject>
  <dc:creator>Jerry Diabor</dc:creator>
  <cp:lastModifiedBy>Jerry Godwin Diabor</cp:lastModifiedBy>
  <cp:revision>1</cp:revision>
  <dcterms:created xsi:type="dcterms:W3CDTF">2026-09-16T19:05:58Z</dcterms:created>
  <dcterms:modified xsi:type="dcterms:W3CDTF">2026-09-28T17:21:44Z</dcterms:modified>
</cp:coreProperties>
</file>