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4600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2011680"/>
            <a:ext cx="5669280" cy="5669280"/>
          </a:xfrm>
          <a:prstGeom prst="ellipse">
            <a:avLst/>
          </a:prstGeom>
          <a:solidFill>
            <a:srgbClr val="C85A2E">
              <a:alpha val="22000"/>
            </a:srgbClr>
          </a:solidFill>
          <a:ln w="12700">
            <a:solidFill>
              <a:srgbClr val="C85A2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3291840"/>
            <a:ext cx="3108960" cy="3108960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9144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IoT Digital Repository</a:t>
            </a:r>
            <a:endParaRPr lang="en-US" sz="1800" dirty="0"/>
          </a:p>
          <a:p>
            <a:pPr marL="0" indent="0">
              <a:buNone/>
            </a:pPr>
            <a:r>
              <a:rPr lang="en-US" sz="1800" i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sensor simulation to data visualization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greenhouse climate and soil monitoring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·  MQTT / HiveMQ  ·  SQLite  ·  Matplotlib  ·  Streamlit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51206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Instructor: Dr. Felix Njeh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Student: Jerry Diabor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presentation: 28 September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presentation covers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57276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use case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57860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" y="338328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31520" y="35844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0020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 and simulation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438912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31520" y="459028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00200" y="4617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transmission and SQLite storage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355080" y="137160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83680" y="157276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52360" y="16002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Visualizations and key insights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55080" y="237744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0" y="257860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452360" y="2606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/ recorded demo path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355080" y="338328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583680" y="35844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45236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and learning outcomes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AND USE CASE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greenhouse observations without a paid cloud platform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41732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109728" cy="3840480"/>
          </a:xfrm>
          <a:prstGeom prst="rect">
            <a:avLst/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1945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spikes, dry soil, and overnight humidity drift can damage crops when nobody is watching. Commercial IoT platforms are paid and often cloud-locked.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41732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97680" y="1417320"/>
            <a:ext cx="109728" cy="3840480"/>
          </a:xfrm>
          <a:prstGeom prst="rect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case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72000" y="21945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virtual greenhouse node (GH-SENSOR-01) publishes temperature, humidity, soil moisture, and light as JSON over MQTT into a local SQLite repository.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611880" cy="3840480"/>
          </a:xfrm>
          <a:prstGeom prst="roundRect">
            <a:avLst>
              <a:gd name="adj" fmla="val 2025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138160" y="1417320"/>
            <a:ext cx="109728" cy="3840480"/>
          </a:xfrm>
          <a:prstGeom prst="rect">
            <a:avLst/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412480" y="1645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12480" y="219456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Educational prototype for CTEC 651. It demonstrates monitoring and analysis; it does not control a real greenhouse or claim physical measurements.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pic>
        <p:nvPicPr>
          <p:cNvPr id="7" name="Image 0" descr="/home/workdir/artifacts/IoT-Digital-Repository/diagrams/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685800"/>
            <a:ext cx="11521440" cy="3794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6177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pipeline: Sensor Simulator → MQTT Broker → Subscriber → Database → Visualization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983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Broker: broker.hivemq.com:1883   ·   Topic: ctec651/greenhousewatch/ipmcbit   ·   Store: data/iot_data.db   ·   All free tools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table </a:t>
            </a:r>
            <a:r>
              <a:rPr lang="en-US" sz="1800" b="1" dirty="0" err="1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sensor_data</a:t>
            </a:r>
            <a:r>
              <a:rPr lang="en-US" sz="18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fields stored for every reading</a:t>
            </a:r>
            <a:endParaRPr lang="en-US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41148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ECD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Field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5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ECD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Type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530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2ECD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C8C2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530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timestamp / iso_time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/ TEXT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Unix time + human-readable UTC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device_id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TEXT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Virtual node id (GH-SENSOR-01)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temperature_c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Air temperature (°C)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humidity_pct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Relative humidity (%)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soil_moisture_pct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Root-zone moisture (%)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light_lux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Ambient light (lux)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alert_flag / alert_reason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INTEGER / TEXT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if any demonstration threshold is breached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457200" y="548640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thresholds: temperature 16–32 °C · humidity 40–80% · soil moisture ≥ 30%. Light is recorded but does not raise alerts.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 AND MQTT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777240"/>
            <a:ext cx="5532120" cy="5349240"/>
          </a:xfrm>
          <a:prstGeom prst="roundRect">
            <a:avLst>
              <a:gd name="adj" fmla="val 1368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172200" y="777240"/>
            <a:ext cx="5577840" cy="5349240"/>
          </a:xfrm>
          <a:prstGeom prst="roundRect">
            <a:avLst>
              <a:gd name="adj" fmla="val 1368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960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2 - Simulation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src/simulator.py produces JSON with four measurements, UTC timestamps, device id, and alert metadata.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Live mode: ~2-second interval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Historical series: 15-minute steps, soil dry-down, irrigation recovery, injected anomalies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Sample: samples/phase2_sample_output.txt (20 records)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960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3 - MQTT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1463040"/>
            <a:ext cx="512064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 and subscriber use HiveMQ public broker.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A: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python src/subscriber.py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B: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python src/publisher.py --count 20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Subscriber decodes JSON and INSERTs into SQLite via db.py. QoS 0; topic is configurable in config.py.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STORAGE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repository  ·  data/iot_data.db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94360" y="2377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stored records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(assignment min: 50)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28016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20440" y="2377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rows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dry soil · humidity · cold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28016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0936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446520" y="2377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 channels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alert metadata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235440" y="1280160"/>
            <a:ext cx="2743200" cy="2286000"/>
          </a:xfrm>
          <a:prstGeom prst="roundRect">
            <a:avLst>
              <a:gd name="adj" fmla="val 3200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235440" y="14630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9372600" y="23774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services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is built-in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11247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seed uses 15-minute spacing. Live MQTT batches use ~2-second spacing and append to the same table. CSV export matches ordered database rows. Schema: docs/table_schema.md.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Integrity: SQLite PRAGMA integrity_check = ok on the submitted database snapshot.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sp>
        <p:nvSpPr>
          <p:cNvPr id="7" name="Slide title"/>
          <p:cNvSpPr/>
          <p:nvPr/>
        </p:nvSpPr>
        <p:spPr>
          <a:xfrm>
            <a:off x="457200" y="65836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year of Bowie weather  ·  days, months, quarters, year</a:t>
            </a:r>
            <a:endParaRPr lang="en-US" sz="2000" dirty="0"/>
          </a:p>
        </p:txBody>
      </p:sp>
      <p:pic>
        <p:nvPicPr>
          <p:cNvPr id="8" name="Picture 7" descr="Average 24-hour temperature cycle by season for Tomato, Lettuce and Seedling zones versus outdoor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4320" y="1143000"/>
            <a:ext cx="5760720" cy="2395728"/>
          </a:xfrm>
          <a:prstGeom prst="rect">
            <a:avLst/>
          </a:prstGeom>
        </p:spPr>
      </p:pic>
      <p:pic>
        <p:nvPicPr>
          <p:cNvPr id="9" name="Picture 8" descr="Share of hours outside target by month and zone, October 2025 to September 20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912" y="1143000"/>
            <a:ext cx="5760720" cy="2395728"/>
          </a:xfrm>
          <a:prstGeom prst="rect">
            <a:avLst/>
          </a:prstGeom>
        </p:spPr>
      </p:pic>
      <p:pic>
        <p:nvPicPr>
          <p:cNvPr id="10" name="Picture 9" descr="Share of hours outside temperature, humidity and any target by quarter and zon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4320" y="3611880"/>
            <a:ext cx="5760720" cy="2395728"/>
          </a:xfrm>
          <a:prstGeom prst="rect">
            <a:avLst/>
          </a:prstGeom>
        </p:spPr>
      </p:pic>
      <p:pic>
        <p:nvPicPr>
          <p:cNvPr id="11" name="Picture 10" descr="Calendar of hours outside target per day for each zone across the year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53912" y="3611880"/>
            <a:ext cx="5760720" cy="2395728"/>
          </a:xfrm>
          <a:prstGeom prst="rect">
            <a:avLst/>
          </a:prstGeom>
        </p:spPr>
      </p:pic>
      <p:sp>
        <p:nvSpPr>
          <p:cNvPr id="21" name="Source note"/>
          <p:cNvSpPr/>
          <p:nvPr/>
        </p:nvSpPr>
        <p:spPr>
          <a:xfrm>
            <a:off x="457200" y="6089904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weather: real hourly Bowie, MD data (Open-Meteo archive), 1 Oct 2025 – 26 Sep 2026. Indoor values are modelled per zone from that weather.  Full chart set: outputs/01–07.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 year of Bowie weather shows (indoor values modelled)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118872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Lettuce is a cool-season crop in this house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280160" y="148132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target 94% of hours in Q4 2025 but only 24% in Q3 2026: humid summer heat beats pad cooling (85% of August hours outside target). Grow it October–April; switch to a heat-tolerant crop for summer.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80160" y="237744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 dry air is the Seedlings’ risk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267004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Heating dries the air: Seedlings fall below their 65% humidity minimum in 30% of Q1 hours (51% of January hours outside target). Added fogging or propagation covers is the cheapest fix.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56616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Tomatoes fit best; irrigation is not the constraint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85876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Tomatoes are outside target 17% of the year, mostly summer afternoons. Soil stayed in range in all but 4 hours. Heating fell short only at −17.7 °C outdoors (30 Jan): Tomatoes dipped 2.3 °C below minimum.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475488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weather, modelled greenhouse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5047488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Outdoor data is real hourly Bowie, MD weather (Open-Meteo, Oct 2025 – Sep 2026). Indoor values model a typical controlled greenhouse; live MQTT readings are stored separately with their own source label.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PATH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show the end-to-end system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" y="1188720"/>
            <a:ext cx="5532120" cy="4754880"/>
          </a:xfrm>
          <a:prstGeom prst="roundRect">
            <a:avLst>
              <a:gd name="adj" fmla="val 1538"/>
            </a:avLst>
          </a:prstGeom>
          <a:solidFill>
            <a:srgbClr val="15301F"/>
          </a:solidFill>
          <a:ln w="12700">
            <a:solidFill>
              <a:srgbClr val="15301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126480" y="1219558"/>
            <a:ext cx="5577840" cy="4754880"/>
          </a:xfrm>
          <a:prstGeom prst="roundRect">
            <a:avLst>
              <a:gd name="adj" fmla="val 1538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Preferred - live MQTT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Activate venv; pip install -r requirements.txt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Terminal A: python src/subscriber.py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Terminal B: python src/publisher.py --count 15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python src/db.py  (row count grows)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python src/visualize.py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streamlit run src/dashboard.py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actual terminal output as Phase 3 evidence.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Fallback - offline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19202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broker.hivemq.com is blocked: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src/offline_pipeline.py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Seeds (if needed), exports CSV, rebuilds four charts.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submit publisher.py and subscriber.py. Pair offline charts with a retained MQTT log or recording when possible.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EC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 ·  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30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Mapped to course objectives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399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IoT architecture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13990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Five-stage pipeline implemented end-to-end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176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 sensor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21762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channels + JSON + 20-record sample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953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MQTT communication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29535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Publisher / subscriber on HiveMQ public broker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730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time-series data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37307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with time index; ≥50 rows required, 80+ present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507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Visualize for insight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0" y="45079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PNG charts + written interpretation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512064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52852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5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the system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97680" y="52852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+ live or recorded demo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GREENHOUSEWATCH  ·  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PROJECT REFLECTIONS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What the implementation revealed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399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End-to-end integration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13990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The hardest part was not one tool, but keeping simulator, MQTT, SQLite and dashboard behavior consistent.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176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Evidence matters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21762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Console counters alone do not prove delivery; retained subscriber logs and matching database rows provide stronger evidence.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953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Data meaning matters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29535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Simulated readings, stale values and outdoor forecasts must be labeled clearly so the dashboard does not overstate what was measured.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730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Visualization improved understanding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37307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Explicit units, gaps, freshness and alert markers made the repository easier to interpret and defend during a demo.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507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Testing changed the project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0" y="45079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Validation and chart regression tests exposed issues that were not obvious from simply opening the dashboard.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512064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52852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Scope stayed realistic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97680" y="52852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The system demonstrates monitoring and analysis; it does not claim physical greenhouse coverage or automatic irrigation control.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GREENHOUSEWATCH  ·  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t>LESSONS LEARNED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D4CEB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C5C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731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Technical and project lessons from GreenHouseWatch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123444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3990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Validate before storage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297680" y="13990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Numeric, finite and physically valid values should be checked before database insertion; alert metadata should be normalized.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40080" y="21762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Separate transport from proof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217627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MQTT transmission, storage and offline processing are different stages; an offline pipeline cannot by itself prove broker communication.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953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Design for missing 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97680" y="295351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Optional nutrient and pH readings may be absent, so the UI should show missing measurements rather than invent values.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37307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Time handling is critical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297680" y="373075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UTC storage with clearly labeled display time prevents confusion when comparing charts, logs and live status.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34340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8F3E6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45079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Aggregations need context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297680" y="45079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Record-weighted summaries and equal-zone averages answer different questions and should be explained to the audience.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5120640"/>
            <a:ext cx="11247120" cy="6858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4C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0080" y="52852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Build for graceful failure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297680" y="528523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Broker outages, stale sources and forecast/API issues should degrade visibly without crashing the entire application.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30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6304" cy="146304"/>
          </a:xfrm>
          <a:prstGeom prst="ellipse">
            <a:avLst/>
          </a:prstGeom>
          <a:solidFill>
            <a:srgbClr val="C85A2E"/>
          </a:solidFill>
          <a:ln w="12700">
            <a:solidFill>
              <a:srgbClr val="C85A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40080" y="182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dirty="0">
                <a:solidFill>
                  <a:srgbClr val="FF0000"/>
                </a:solidFill>
                <a:highlight>
                  <a:srgbClr val="00FFFF"/>
                </a:highlight>
              </a:rPr>
              <a:t>GREENHOUSEWATCH  ·  15</a:t>
            </a:r>
            <a:endParaRPr lang="en-US" sz="1100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4" name="Text 2"/>
          <p:cNvSpPr/>
          <p:nvPr/>
        </p:nvSpPr>
        <p:spPr>
          <a:xfrm>
            <a:off x="6583680" y="18288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kern="0" spc="150" dirty="0">
                <a:solidFill>
                  <a:srgbClr val="A8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530352"/>
            <a:ext cx="11338560" cy="13716"/>
          </a:xfrm>
          <a:prstGeom prst="rect">
            <a:avLst/>
          </a:prstGeom>
          <a:solidFill>
            <a:srgbClr val="2A4A33"/>
          </a:solidFill>
          <a:ln w="12700">
            <a:solidFill>
              <a:srgbClr val="2A4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6537960"/>
            <a:ext cx="11338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A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Bowie State University  ·  CTEC 651  ·  Dr. Felix Njeh  ·  Jerry Diabor  ·  28 September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GreenHouseWatch in one line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greenhouse sensor data can be transmitted with MQTT, stored locally in SQLite, and visualized with free tools - a complete local IoT digital repository.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F3D2A"/>
          </a:solidFill>
          <a:ln w="12700">
            <a:solidFill>
              <a:srgbClr val="2A4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Proposal + architecture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83280" y="25603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F3D2A"/>
          </a:solidFill>
          <a:ln w="12700">
            <a:solidFill>
              <a:srgbClr val="2A4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8328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2044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Simulator · pub/sub · DB · charts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25603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F3D2A"/>
          </a:solidFill>
          <a:ln w="12700">
            <a:solidFill>
              <a:srgbClr val="2A4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 rows · 7 alerts · CSV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35440" y="256032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1F3D2A"/>
          </a:solidFill>
          <a:ln w="12700">
            <a:solidFill>
              <a:srgbClr val="2A4A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35440" y="27889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0A5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372600" y="329184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2EC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MQTT or offline path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8B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 ·  Jerry Diabor  ·  CTEC 651  ·  Dr. Felix Njeh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1252</TotalTime>
  <Words>1597</Words>
  <Application>Microsoft Office PowerPoint</Application>
  <PresentationFormat>Widescreen</PresentationFormat>
  <Paragraphs>222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GreenHouseWatch — CTEC 651 IoT Digital Repository Project</dc:title>
  <dc:subject>CTEC 651 Digital Repository Project 1 — Final Presentation</dc:subject>
  <dc:creator>Jerry Diabor</dc:creator>
  <cp:lastModifiedBy>Jerry Godwin Diabor</cp:lastModifiedBy>
  <cp:revision>3</cp:revision>
  <dcterms:created xsi:type="dcterms:W3CDTF">2026-09-16T19:05:58Z</dcterms:created>
  <dcterms:modified xsi:type="dcterms:W3CDTF">2026-09-29T14:27:06Z</dcterms:modified>
</cp:coreProperties>
</file>